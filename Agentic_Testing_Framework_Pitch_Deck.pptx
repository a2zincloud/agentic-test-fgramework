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430" y="1828800"/>
            <a:ext cx="791114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237E"/>
                </a:solidFill>
              </a:defRPr>
            </a:pPr>
            <a:r>
              <a:rPr dirty="0"/>
              <a:t>Agentic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A90E2"/>
                </a:solidFill>
              </a:defRPr>
            </a:pPr>
            <a:r>
              <a:t>Transforming Health Insurance Testing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212121"/>
                </a:solidFill>
              </a:defRPr>
            </a:pPr>
            <a:r>
              <a:t>Reducing Testing Costs by 80% While Improving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0361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The Testing Crisis in Health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Manual Testing Bottleneck: 60% of release cycle time ($2M+ annually)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Complex Regulatory Requirements: HIPAA, ACA, State mandates ($500K+)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Legacy System Integration: Mainframe, EDI, HL7 ($800K+)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Production Defects: Customer impact, penalties ($1M+)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Test Maintenance: 40% of QA time ($600K+)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Reality: 20+ QA Engineers, 6-8 Week testing cycles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30-40% of defects escape to production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Total annual testing costs: $4.9M+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6412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Imagine a World Where...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✨ Testing is Autonomous - AI agents write, execute, and maintain tests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🔮 Quality is Predictive - Defects caught before they're written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✅ Compliance is Built-In - Regulatory requirements validated real-time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💰 Costs are Minimal - 80% reduction in testing expenses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⚡ Speed is Exponential - Hours instead of weeks for full regression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91059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Agentic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AI-Powered, Domain-Specific, Enterprise-Ready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AI Orchestrator (Claude / Custom Models)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↓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Specialized AI Agents: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• Policy Validation Agent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• Claims Processing Agent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• Member Journey Agent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• Integration Testing Agent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• Compliance &amp; Security Agent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↓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🛠️ Testing Tools &amp; Systems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• UI • API • Database • EDI •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38508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The Magic Behind the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Intelligent Test Generation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Policy Document → AI Analysis → 1000+ Test Cases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(Manual: 2 weeks vs AI: 2 hours)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Autonomous Execution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Parallel execution across 100+ agents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Self-healing when UI/API changes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Real-time adaptation to failures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Smart Validation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Claims adjudication logic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Regulatory compliance checks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Cross-system integration validation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4️⃣ Continuous Learning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Learns from production issues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rPr dirty="0"/>
              <a:t>   • Improves test coverage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61903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Built for Health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Policy Management: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Premium calculations • Eligibility rules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Coverage limits • Renewal workflows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Claims Processing: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Adjudication logic • COB scenarios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Pre-authorization • Payment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Compliance: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HIPAA validation • ACA requirements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State mandates • Audit trails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Integration: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EDI (837, 835, 834, 270/271)</a:t>
            </a:r>
          </a:p>
          <a:p>
            <a:pPr>
              <a:spcBef>
                <a:spcPts val="1000"/>
              </a:spcBef>
              <a:defRPr sz="1800">
                <a:solidFill>
                  <a:srgbClr val="212121"/>
                </a:solidFill>
              </a:defRPr>
            </a:pPr>
            <a:r>
              <a:t>  • HL7/FHIR • Provider networks • PBM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6845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rPr dirty="0"/>
              <a:t>Why We Win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Our Framework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6-8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2-3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2-3 days 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40-50%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60-70%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90%+ 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Low 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Domain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Built-in AI 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Cost (3 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$6M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$3M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$1.5M 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Adaptability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High 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rPr dirty="0"/>
              <a:t> The Numbers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145-217%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Year 1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$2.5M-$3.8M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Annual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6-8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Payback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4805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Cost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10353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Transformational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Efficiency Gains: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⚡ 80% reduction in test creation time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🚀 70% reduction in test execution time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🔧 90% reduction in test maintenance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📊 3x increase in test coverage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Quality Improvements: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🎯 95%+ defect detection in pre-production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📉 50% reduction in production defects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98%+ test reliability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🔍 100% compliance validation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Business Benefits: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💵 $2.5M+ annual cost savings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⏱️ 30% faster time to market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81816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Built for Large Insurance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Security &amp; Compliance: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HIPAA compliant with PHI/PII protection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SOC 2 Type II certified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HITRUST CSF framework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Zero-trust architecture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Scalability: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10,000+ concurrent tests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Multi-region deployment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99.9% uptime SLA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Integration: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Legacy systems (Mainframe, AS/400)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Modern APIs (REST, GraphQL, gRPC)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Enterprise tools (JIRA, ServiceNow)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3979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12-Month Journey to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Phase 1: Foundation (Months 1-3)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Core framework deployment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100+ automated tests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Milestone: 50% reduction in manual testing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Phase 2: Scale (Months 4-6)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All 5 specialized agents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1,000+ automated tests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Milestone: 70% test automation coverage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Phase 3: Advanced (Months 7-9)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AI-powered test generation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5,000+ automated tests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Milestone: &lt;1 hour regression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Phase 4: Optimization (Months 10-12)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Multi-region deployment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Milestone: 80% automation, ROI positive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8478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rPr dirty="0"/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90%+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Test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3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Full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$2.1M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Cost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4805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Faster Releases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501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Pilot Program Investment: $250,000 (3 months)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Framework setup: $100K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2 specialized agents: $80K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Integration: $40K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Training &amp; support: $30K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Expected Pilot Outcomes: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100+ automated tests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50% reduction in manual testing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Proof of ROI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✅ Executive buy-in for full deployment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Full Program: $1.15M - $1.75M (12 months)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Expected Return: $2.5M - $3.8M annually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ROI: 145% - 217% in Year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9844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The Time 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Market Trends: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📈 85% of enterprises investing in AI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🚀 60% cite testing as bottleneck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💰 Need to do more with less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Competitive Pressure: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Competitors exploring AI testing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First movers gain significant advantage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• Technology gap widening rapidly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Your Opportunity: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🎯 Be a pioneer in AI-powered testing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🏆 Gain competitive advantage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💡 Transform from cost center to innovation driver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🚀 Lead the industry in testing excellence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0252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rPr dirty="0"/>
              <a:t>Let's Transform Testing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Next Steps: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1. Pilot Program (3 months) - $250K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Select one product line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Deploy core framework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Demonstrate quick wins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2. Business Case Approval (Month 4)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Present results to executives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Secure full budget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3. Full Deployment (9 months) - $900K-$1.5M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Phased rollout across products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Scale to enterprise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   • Achieve target ROI</a:t>
            </a:r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212121"/>
                </a:solidFill>
              </a:defRPr>
            </a:pPr>
            <a:r>
              <a:t>Decision Timeline: 4 weeks to pilot kickoff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1360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rPr dirty="0"/>
              <a:t>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solidFill>
            <a:srgbClr val="64B5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Interface &amp; API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solidFill>
            <a:srgbClr val="4A90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Orchestration Layer (LLM-based)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solidFill>
            <a:srgbClr val="42A5F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 Layer (5 Specialized Agents)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 Layer (UI, API, DB, EDI, Reports)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663440"/>
            <a:ext cx="6400800" cy="640080"/>
          </a:xfrm>
          <a:prstGeom prst="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Layer (Vector DB, PostgreSQL, Redis)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65760" cy="457200"/>
          </a:xfrm>
          <a:prstGeom prst="round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65760" cy="457200"/>
          </a:xfrm>
          <a:prstGeom prst="round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3703320"/>
            <a:ext cx="365760" cy="457200"/>
          </a:xfrm>
          <a:prstGeom prst="round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4526280"/>
            <a:ext cx="365760" cy="457200"/>
          </a:xfrm>
          <a:prstGeom prst="round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🤖 Specialized 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2743200" cy="731520"/>
          </a:xfrm>
          <a:prstGeom prst="rect">
            <a:avLst/>
          </a:prstGeom>
          <a:solidFill>
            <a:srgbClr val="FF9800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Orchestrator</a:t>
            </a:r>
          </a:p>
          <a:p>
            <a:r>
              <a:t>(GPT-4/Claude)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3200400"/>
            <a:ext cx="1371600" cy="73152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Policy</a:t>
            </a:r>
          </a:p>
          <a:p>
            <a:r>
              <a:t>Agent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2743200"/>
            <a:ext cx="1371600" cy="7315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Claims</a:t>
            </a:r>
          </a:p>
          <a:p>
            <a:r>
              <a:t>Agent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3200400"/>
            <a:ext cx="1371600" cy="7315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Member</a:t>
            </a:r>
          </a:p>
          <a:p>
            <a:r>
              <a:t>Agent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4572000"/>
            <a:ext cx="1371600" cy="731520"/>
          </a:xfrm>
          <a:prstGeom prst="ellipse">
            <a:avLst/>
          </a:prstGeom>
          <a:solidFill>
            <a:srgbClr val="FF572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Integration</a:t>
            </a:r>
          </a:p>
          <a:p>
            <a:r>
              <a:t>Agent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5029200"/>
            <a:ext cx="1371600" cy="731520"/>
          </a:xfrm>
          <a:prstGeom prst="ellipse">
            <a:avLst/>
          </a:prstGeom>
          <a:solidFill>
            <a:srgbClr val="F4433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Security</a:t>
            </a:r>
          </a:p>
          <a:p>
            <a:r>
              <a:t>Agent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572000"/>
            <a:ext cx="1371600" cy="731520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r>
              <a:t>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9428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rPr dirty="0"/>
              <a:t>Test Execution Flow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914400" cy="1097280"/>
          </a:xfrm>
          <a:prstGeom prst="ellipse">
            <a:avLst/>
          </a:prstGeom>
          <a:solidFill>
            <a:srgbClr val="42A5F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User</a:t>
            </a:r>
          </a:p>
          <a:p>
            <a:r>
              <a:t>Request</a:t>
            </a:r>
          </a:p>
        </p:txBody>
      </p:sp>
      <p:sp>
        <p:nvSpPr>
          <p:cNvPr id="4" name="Can 3"/>
          <p:cNvSpPr/>
          <p:nvPr/>
        </p:nvSpPr>
        <p:spPr>
          <a:xfrm>
            <a:off x="2057400" y="3017520"/>
            <a:ext cx="320040" cy="18288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03120" y="2560320"/>
            <a:ext cx="914400" cy="1097280"/>
          </a:xfrm>
          <a:prstGeom prst="ellipse">
            <a:avLst/>
          </a:prstGeom>
          <a:solidFill>
            <a:srgbClr val="4A90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Orchestrator</a:t>
            </a:r>
          </a:p>
          <a:p>
            <a:r>
              <a:t>Analysis</a:t>
            </a:r>
          </a:p>
        </p:txBody>
      </p:sp>
      <p:sp>
        <p:nvSpPr>
          <p:cNvPr id="6" name="Can 5"/>
          <p:cNvSpPr/>
          <p:nvPr/>
        </p:nvSpPr>
        <p:spPr>
          <a:xfrm>
            <a:off x="3063239" y="3017520"/>
            <a:ext cx="320040" cy="18288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960" y="2560320"/>
            <a:ext cx="914400" cy="1097280"/>
          </a:xfrm>
          <a:prstGeom prst="ellipse">
            <a:avLst/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Agent</a:t>
            </a:r>
          </a:p>
          <a:p>
            <a:r>
              <a:t>Selection</a:t>
            </a:r>
          </a:p>
        </p:txBody>
      </p:sp>
      <p:sp>
        <p:nvSpPr>
          <p:cNvPr id="8" name="Can 7"/>
          <p:cNvSpPr/>
          <p:nvPr/>
        </p:nvSpPr>
        <p:spPr>
          <a:xfrm>
            <a:off x="4069080" y="3017520"/>
            <a:ext cx="320040" cy="18288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114800" y="2560320"/>
            <a:ext cx="914400" cy="109728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Test</a:t>
            </a:r>
          </a:p>
          <a:p>
            <a:r>
              <a:t>Generation</a:t>
            </a:r>
          </a:p>
        </p:txBody>
      </p:sp>
      <p:sp>
        <p:nvSpPr>
          <p:cNvPr id="10" name="Can 9"/>
          <p:cNvSpPr/>
          <p:nvPr/>
        </p:nvSpPr>
        <p:spPr>
          <a:xfrm>
            <a:off x="5074920" y="3017520"/>
            <a:ext cx="320040" cy="18288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20640" y="2560320"/>
            <a:ext cx="914400" cy="1097280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Execution</a:t>
            </a:r>
          </a:p>
        </p:txBody>
      </p:sp>
      <p:sp>
        <p:nvSpPr>
          <p:cNvPr id="12" name="Can 11"/>
          <p:cNvSpPr/>
          <p:nvPr/>
        </p:nvSpPr>
        <p:spPr>
          <a:xfrm>
            <a:off x="6080760" y="3017520"/>
            <a:ext cx="320040" cy="18288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26480" y="2560320"/>
            <a:ext cx="914400" cy="109728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Validation</a:t>
            </a:r>
          </a:p>
        </p:txBody>
      </p:sp>
      <p:sp>
        <p:nvSpPr>
          <p:cNvPr id="14" name="Can 13"/>
          <p:cNvSpPr/>
          <p:nvPr/>
        </p:nvSpPr>
        <p:spPr>
          <a:xfrm>
            <a:off x="7086600" y="3017520"/>
            <a:ext cx="320040" cy="18288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2560320"/>
            <a:ext cx="914400" cy="10972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1159</Words>
  <Application>Microsoft Macintosh PowerPoint</Application>
  <PresentationFormat>On-screen Show (4:3)</PresentationFormat>
  <Paragraphs>260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KIRAN CHOWDHURY</cp:lastModifiedBy>
  <cp:revision>2</cp:revision>
  <dcterms:created xsi:type="dcterms:W3CDTF">2013-01-27T09:14:16Z</dcterms:created>
  <dcterms:modified xsi:type="dcterms:W3CDTF">2026-02-20T13:06:22Z</dcterms:modified>
  <cp:category/>
</cp:coreProperties>
</file>